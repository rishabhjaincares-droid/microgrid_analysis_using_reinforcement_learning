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Playfair Display" panose="020B0604020202020204" charset="0"/>
      <p:regular r:id="rId8"/>
      <p:bold r:id="rId9"/>
      <p:italic r:id="rId10"/>
      <p:boldItalic r:id="rId11"/>
    </p:embeddedFont>
    <p:embeddedFont>
      <p:font typeface="Trebuchet MS" panose="020B0603020202020204" pitchFamily="34" charset="0"/>
      <p:regular r:id="rId12"/>
      <p:bold r:id="rId13"/>
      <p:italic r:id="rId14"/>
      <p:boldItalic r:id="rId15"/>
    </p:embeddedFont>
    <p:embeddedFont>
      <p:font typeface="Comic Sans MS" panose="030F0702030302020204" pitchFamily="66" charset="0"/>
      <p:regular r:id="rId16"/>
      <p:bold r:id="rId17"/>
      <p:italic r:id="rId18"/>
      <p:boldItalic r:id="rId19"/>
    </p:embeddedFon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Calibri Light" panose="020F0302020204030204" pitchFamily="34" charset="0"/>
      <p:regular r:id="rId24"/>
      <p:italic r:id="rId25"/>
    </p:embeddedFont>
    <p:embeddedFont>
      <p:font typeface="Tahoma" panose="020B0604030504040204" pitchFamily="3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66" d="100"/>
          <a:sy n="66" d="100"/>
        </p:scale>
        <p:origin x="1590" y="-240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font" Target="fonts/font23.fntdata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34" Type="http://schemas.openxmlformats.org/officeDocument/2006/relationships/theme" Target="theme/theme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32" Type="http://schemas.openxmlformats.org/officeDocument/2006/relationships/presProps" Target="presProp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font" Target="fonts/font25.fntdata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31" Type="http://schemas.openxmlformats.org/officeDocument/2006/relationships/font" Target="fonts/font28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font" Target="fonts/font24.fntdata"/><Relationship Id="rId30" Type="http://schemas.openxmlformats.org/officeDocument/2006/relationships/font" Target="fonts/font27.fntdata"/><Relationship Id="rId35" Type="http://schemas.openxmlformats.org/officeDocument/2006/relationships/tableStyles" Target="tableStyles.xml"/><Relationship Id="rId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20867" y="1962856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97057" y="694056"/>
            <a:ext cx="12120998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68116" y="1114989"/>
            <a:ext cx="12077139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Student Name 1 | Student Name 2 | Student Name 3 | Student Name 4 | Student Name 5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USN 1 | USN 2 | USN 3 | USN 4 | USN 5 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519803" cy="19230333"/>
            <a:chOff x="26374694" y="8524168"/>
            <a:chExt cx="17964396" cy="28277704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374694" y="8524168"/>
              <a:ext cx="17964396" cy="28277704"/>
              <a:chOff x="26287382" y="8000294"/>
              <a:chExt cx="17964396" cy="28277704"/>
            </a:xfrm>
          </p:grpSpPr>
          <p:sp>
            <p:nvSpPr>
              <p:cNvPr id="131" name="Google Shape;131;p1"/>
              <p:cNvSpPr/>
              <p:nvPr/>
            </p:nvSpPr>
            <p:spPr>
              <a:xfrm>
                <a:off x="26287382" y="8000294"/>
                <a:ext cx="17964396" cy="28277704"/>
              </a:xfrm>
              <a:prstGeom prst="roundRect">
                <a:avLst>
                  <a:gd name="adj" fmla="val 2556"/>
                </a:avLst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spcFirstLastPara="1" wrap="square" lIns="38271" tIns="19130" rIns="38271" bIns="1913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3600"/>
                </a:pPr>
                <a:endParaRPr lang="en-IN"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>
                  <a:buClr>
                    <a:schemeClr val="dk1"/>
                  </a:buClr>
                  <a:buSzPts val="3600"/>
                </a:pPr>
                <a:r>
                  <a:rPr lang="en-IN" sz="1507"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</a:t>
                </a:r>
                <a:endParaRPr sz="1507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784567" y="18102043"/>
                <a:ext cx="16741775" cy="2186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pPr lvl="0" algn="just">
                  <a:buClr>
                    <a:schemeClr val="dk1"/>
                  </a:buClr>
                  <a:buSzPts val="4000"/>
                </a:pPr>
                <a:r>
                  <a:rPr lang="en-US" dirty="0">
                    <a:solidFill>
                      <a:schemeClr val="dk1"/>
                    </a:solidFill>
                    <a:latin typeface="Bookman Old Style" panose="02050604050505020204" pitchFamily="18" charset="0"/>
                  </a:rPr>
                  <a:t>[Clearly state the objective of your prototype. What goals does it aim to achieve?]</a:t>
                </a: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650065" y="8801931"/>
              <a:ext cx="17344338" cy="494637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Introduction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13909" y="10920044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83025" y="669400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22661" y="18347881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/>
          </p:cNvPr>
          <p:cNvSpPr txBox="1"/>
          <p:nvPr/>
        </p:nvSpPr>
        <p:spPr>
          <a:xfrm>
            <a:off x="299159" y="8428447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3" name="Google Shape;149;p1">
            <a:extLst/>
          </p:cNvPr>
          <p:cNvSpPr txBox="1"/>
          <p:nvPr/>
        </p:nvSpPr>
        <p:spPr>
          <a:xfrm>
            <a:off x="246806" y="2596470"/>
            <a:ext cx="7008020" cy="25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[Include a brief introduction to set the context for your prototype.]</a:t>
            </a: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/>
          </a:p>
        </p:txBody>
      </p:sp>
      <p:sp>
        <p:nvSpPr>
          <p:cNvPr id="4" name="Google Shape;150;p1">
            <a:extLst/>
          </p:cNvPr>
          <p:cNvSpPr txBox="1"/>
          <p:nvPr/>
        </p:nvSpPr>
        <p:spPr>
          <a:xfrm>
            <a:off x="243629" y="5304852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/>
          </p:cNvPr>
          <p:cNvSpPr txBox="1"/>
          <p:nvPr/>
        </p:nvSpPr>
        <p:spPr>
          <a:xfrm>
            <a:off x="408531" y="5759039"/>
            <a:ext cx="7008020" cy="25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[Explain the problem your prototype addresses and its significance.]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6" name="Google Shape;149;p1">
            <a:extLst/>
          </p:cNvPr>
          <p:cNvSpPr txBox="1"/>
          <p:nvPr/>
        </p:nvSpPr>
        <p:spPr>
          <a:xfrm>
            <a:off x="335735" y="11383386"/>
            <a:ext cx="7008020" cy="973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ea typeface="Georgia" panose="02040502050405020303"/>
                <a:cs typeface="Georgia" panose="02040502050405020303"/>
                <a:sym typeface="Georgia" panose="02040502050405020303"/>
              </a:rPr>
              <a:t>[</a:t>
            </a:r>
            <a:r>
              <a:rPr lang="en-US" b="1" dirty="0">
                <a:solidFill>
                  <a:schemeClr val="dk1"/>
                </a:solidFill>
                <a:latin typeface="Bookman Old Style" panose="02050604050505020204" pitchFamily="18" charset="0"/>
                <a:ea typeface="Georgia" panose="02040502050405020303"/>
                <a:cs typeface="Georgia" panose="02040502050405020303"/>
                <a:sym typeface="Georgia" panose="02040502050405020303"/>
              </a:rPr>
              <a:t>Flowchart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ea typeface="Georgia" panose="02040502050405020303"/>
                <a:cs typeface="Georgia" panose="02040502050405020303"/>
                <a:sym typeface="Georgia" panose="02040502050405020303"/>
              </a:rPr>
              <a:t> to elaborate on the strategic steps involved on crafting and refining key features]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7" name="Google Shape;149;p1">
            <a:extLst/>
          </p:cNvPr>
          <p:cNvSpPr txBox="1"/>
          <p:nvPr/>
        </p:nvSpPr>
        <p:spPr>
          <a:xfrm>
            <a:off x="7912137" y="2616364"/>
            <a:ext cx="7008020" cy="336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10" name="Google Shape;149;p1">
            <a:extLst/>
          </p:cNvPr>
          <p:cNvSpPr txBox="1"/>
          <p:nvPr/>
        </p:nvSpPr>
        <p:spPr>
          <a:xfrm>
            <a:off x="7662555" y="17889568"/>
            <a:ext cx="7190093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/>
          </p:cNvPr>
          <p:cNvSpPr txBox="1"/>
          <p:nvPr/>
        </p:nvSpPr>
        <p:spPr>
          <a:xfrm>
            <a:off x="9899595" y="1405831"/>
            <a:ext cx="5143500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Theme: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Google Shape;173;p1">
            <a:extLst/>
          </p:cNvPr>
          <p:cNvSpPr txBox="1"/>
          <p:nvPr/>
        </p:nvSpPr>
        <p:spPr>
          <a:xfrm>
            <a:off x="7798572" y="11753531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" name="Google Shape;149;p1">
            <a:extLst/>
          </p:cNvPr>
          <p:cNvSpPr txBox="1"/>
          <p:nvPr/>
        </p:nvSpPr>
        <p:spPr>
          <a:xfrm>
            <a:off x="7822661" y="14972782"/>
            <a:ext cx="7008020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46" name="Google Shape;173;p1">
            <a:extLst/>
          </p:cNvPr>
          <p:cNvSpPr txBox="1"/>
          <p:nvPr/>
        </p:nvSpPr>
        <p:spPr>
          <a:xfrm>
            <a:off x="7764725" y="15398463"/>
            <a:ext cx="7330911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 smtClean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Outcome of the work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47" name="Google Shape;149;p1"/>
          <p:cNvSpPr txBox="1"/>
          <p:nvPr/>
        </p:nvSpPr>
        <p:spPr>
          <a:xfrm>
            <a:off x="7875086" y="16203457"/>
            <a:ext cx="7008020" cy="14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[Clearly state the </a:t>
            </a:r>
            <a:r>
              <a:rPr lang="en-US" dirty="0" smtClean="0">
                <a:solidFill>
                  <a:schemeClr val="dk1"/>
                </a:solidFill>
                <a:latin typeface="Bookman Old Style" panose="02050604050505020204" pitchFamily="18" charset="0"/>
              </a:rPr>
              <a:t>outcome - 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Comic Sans MS" panose="030F0702030302020204"/>
              </a:rPr>
              <a:t>(Publication/Product Development/Patenting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Comic Sans MS" panose="030F0702030302020204"/>
              </a:rPr>
              <a:t>)</a:t>
            </a: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 smtClean="0">
                <a:solidFill>
                  <a:schemeClr val="dk1"/>
                </a:solidFill>
                <a:latin typeface="Bookman Old Style" panose="02050604050505020204" pitchFamily="18" charset="0"/>
              </a:rPr>
              <a:t>]</a:t>
            </a: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341</TotalTime>
  <Words>141</Words>
  <Application>Microsoft Office PowerPoint</Application>
  <PresentationFormat>Custom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Bookman Old Style</vt:lpstr>
      <vt:lpstr>Playfair Display</vt:lpstr>
      <vt:lpstr>Trebuchet MS</vt:lpstr>
      <vt:lpstr>Söhne</vt:lpstr>
      <vt:lpstr>Comic Sans MS</vt:lpstr>
      <vt:lpstr>Georgia</vt:lpstr>
      <vt:lpstr>Calibri Light</vt:lpstr>
      <vt:lpstr>Times New Roman</vt:lpstr>
      <vt:lpstr>Tahoma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RVCECV</cp:lastModifiedBy>
  <cp:revision>26</cp:revision>
  <cp:lastPrinted>2024-01-29T05:31:42Z</cp:lastPrinted>
  <dcterms:created xsi:type="dcterms:W3CDTF">2020-07-26T16:54:19Z</dcterms:created>
  <dcterms:modified xsi:type="dcterms:W3CDTF">2025-10-28T08:19:56Z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